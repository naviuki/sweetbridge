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МАРКЕТПЛЕЙС · ЯКУТИЯ ⇄ ДНР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Сладкий мост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Кондитерские изделия между двумя регионами —
сборными доставками «волнами»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40156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3749039"/>
            <a:ext cx="3657600" cy="1691640"/>
          </a:xfrm>
          <a:prstGeom prst="roundRect">
            <a:avLst/>
          </a:prstGeom>
          <a:solidFill>
            <a:srgbClr val="D8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0416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5173"/>
                </a:solidFill>
                <a:latin typeface="Calibri"/>
                <a:ea typeface="Calibri"/>
                <a:cs typeface="Calibri"/>
              </a:rPr>
              <a:t>ЯКУТИЯ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434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ЯХК · 10 позиций
передаёт на восток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08392" y="3749039"/>
            <a:ext cx="3657600" cy="1691640"/>
          </a:xfrm>
          <a:prstGeom prst="roundRect">
            <a:avLst/>
          </a:prstGeom>
          <a:solidFill>
            <a:srgbClr val="FBE6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4152" y="40416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ДНР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4434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Донецкая фабрика · 10 позиций
передаёт на север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5173"/>
                </a:solidFill>
                <a:latin typeface="Calibri"/>
                <a:ea typeface="Calibri"/>
                <a:cs typeface="Calibri"/>
              </a:rPr>
              <a:t>ВОЛНА 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←  ВОЛНА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715000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8978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При поддержке Корпорации развития Республики Саха (Якутия)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5897880"/>
            <a:ext cx="2587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.NET 8 · 78 тестов · 52 страницы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Дальняя перевозка слишком дорога,
чтобы отправлять каждый заказ отдельно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57860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ПОШТУЧНО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584448"/>
            <a:ext cx="9601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22191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заказ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3584448"/>
            <a:ext cx="9601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3822191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заказ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3584448"/>
            <a:ext cx="9601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3822191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заказ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425696"/>
            <a:ext cx="9601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66344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заказ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4425696"/>
            <a:ext cx="9601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466344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заказ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4425696"/>
            <a:ext cx="9601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466344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заказ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0352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Рейс на 300 кг уже оплачен.
Шесть заказов занимают шесть слотов
из трёхсот.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18288" cy="3017520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788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ОБЩЕЙ ВОЛНОЙ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200400"/>
            <a:ext cx="4965192" cy="1554480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345643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общий рейс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895344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CD6E4"/>
                </a:solidFill>
                <a:latin typeface="Calibri"/>
                <a:ea typeface="Calibri"/>
                <a:cs typeface="Calibri"/>
              </a:rPr>
              <a:t>50–300 кг · 10–14 дней · один тариф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303520"/>
            <a:ext cx="49651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Те же самые слоты заполняют
заказы всех покупателей
обоих регионов.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32764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Сладкий мост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446520"/>
            <a:ext cx="1307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Волна — это общий сборный рейс
с проверяемыми правилами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57860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Объект предметной области. Поля заполняет администратор, проверяет домен.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429000"/>
            <a:ext cx="19482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3429000"/>
            <a:ext cx="64008" cy="1463040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657600"/>
            <a:ext cx="1491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Направление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4023360"/>
            <a:ext cx="14910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Якутия ⇄ ДНР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2348" y="3429000"/>
            <a:ext cx="19482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28380" y="3657600"/>
            <a:ext cx="1491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Дата отправки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8380" y="4023360"/>
            <a:ext cx="14910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каждые
14 дней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1737" y="3429000"/>
            <a:ext cx="19482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7769" y="3657600"/>
            <a:ext cx="1491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Приём заказов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7769" y="4023360"/>
            <a:ext cx="14910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закрытие
−3 дня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71125" y="3429000"/>
            <a:ext cx="19482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71125" y="3429000"/>
            <a:ext cx="64008" cy="1463040"/>
          </a:xfrm>
          <a:prstGeom prst="round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7157" y="3657600"/>
            <a:ext cx="1491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Вместимость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7157" y="4023360"/>
            <a:ext cx="14910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до 300 кг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20514" y="3429000"/>
            <a:ext cx="19482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420514" y="3429000"/>
            <a:ext cx="64008" cy="1463040"/>
          </a:xfrm>
          <a:prstGeom prst="round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6546" y="3657600"/>
            <a:ext cx="1491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Мин. загрузка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6546" y="4023360"/>
            <a:ext cx="14910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от 50 кг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13892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4924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Волна не уходит, пока не набрана минимальная
загрузка. Это правило, а не договорённость.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5349240"/>
            <a:ext cx="4416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Статусы: Planned → Dispatched.
Вместимость защищена от переполнения.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ЖИЗНЕННЫЙ ЦИКЛ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14 дней между волнами, приём закрывается за 3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9572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42183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Приём заказов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1270" y="2697480"/>
            <a:ext cx="126549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Отсечка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6763" y="2697480"/>
            <a:ext cx="50619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Доставка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35808"/>
            <a:ext cx="4218310" cy="914400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28415"/>
            <a:ext cx="42183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 дней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1270" y="3035808"/>
            <a:ext cx="1265493" cy="914400"/>
          </a:xfrm>
          <a:prstGeom prst="round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1270" y="3328415"/>
            <a:ext cx="126549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дня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6763" y="3035808"/>
            <a:ext cx="506197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517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6763" y="3328415"/>
            <a:ext cx="50619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5173"/>
                </a:solidFill>
                <a:latin typeface="Calibri"/>
                <a:ea typeface="Calibri"/>
                <a:cs typeface="Calibri"/>
              </a:rPr>
              <a:t>10–14 дней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31596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" y="4233672"/>
            <a:ext cx="18288" cy="182880"/>
          </a:xfrm>
          <a:prstGeom prst="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" y="45171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День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2126" y="4233672"/>
            <a:ext cx="18288" cy="182880"/>
          </a:xfrm>
          <a:prstGeom prst="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64030" y="45171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День 11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7619" y="4233672"/>
            <a:ext cx="18288" cy="182880"/>
          </a:xfrm>
          <a:prstGeom prst="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29523" y="45171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День 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359591" y="4233672"/>
            <a:ext cx="18288" cy="182880"/>
          </a:xfrm>
          <a:prstGeom prst="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91495" y="45171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День 24–28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13892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34924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Приём открыт на 10 дней, затем 3 дня на отсечку и сбор, потом 10–14 дней пути.
Волны не накладываются: следующая откроется сразу после отправки текущей.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32764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Сладкий мост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446520"/>
            <a:ext cx="1307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ЭКОНОМИКА ВОЛНЫ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Чем полнее волна —
тем дешевле доставка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871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Базовая ставка 500 ₽/кг. Скидка зависит от доли заполнения.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17520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3364992"/>
            <a:ext cx="5272887" cy="457200"/>
          </a:xfrm>
          <a:prstGeom prst="roundRect">
            <a:avLst/>
          </a:prstGeom>
          <a:solidFill>
            <a:srgbClr val="FDE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5847" y="3364992"/>
            <a:ext cx="3163732" cy="457200"/>
          </a:xfrm>
          <a:prstGeom prst="roundRect">
            <a:avLst/>
          </a:prstGeom>
          <a:solidFill>
            <a:srgbClr val="F3B9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259580" y="3364992"/>
            <a:ext cx="2109155" cy="457200"/>
          </a:xfrm>
          <a:prstGeom prst="round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005072"/>
            <a:ext cx="52728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до 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527288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10912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500 ₽/кг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4005072"/>
            <a:ext cx="31637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50–80%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4389120"/>
            <a:ext cx="31637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−20%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5010912"/>
            <a:ext cx="31637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400 ₽/кг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9580" y="4005072"/>
            <a:ext cx="21091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80–100%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9580" y="4389120"/>
            <a:ext cx="21091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−35%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9580" y="5010912"/>
            <a:ext cx="21091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325 ₽/кг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532120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74243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Скидка применяется к доставке автоматически в момент оформления заказа.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5742432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Выгода 175 ₽/кг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32764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Сладкий мост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46520"/>
            <a:ext cx="1307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ПАРАМЕТРЫ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Тарифные границы заданы конфигурацией,
а не захардкожены в коде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57860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Раздел Logistics в appsettings.json — единственный источник правды.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37560"/>
            <a:ext cx="3362858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3483864"/>
            <a:ext cx="290565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Базовый тариф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758184"/>
            <a:ext cx="2905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500 ₽/кг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3337560"/>
            <a:ext cx="3362858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0450" y="3483864"/>
            <a:ext cx="290565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Термоупаковка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0450" y="3758184"/>
            <a:ext cx="2905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150 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5876" y="3337560"/>
            <a:ext cx="3362858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1908" y="3483864"/>
            <a:ext cx="290565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Минимум волны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1908" y="3758184"/>
            <a:ext cx="2905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50 кг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97680"/>
            <a:ext cx="3362858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443984"/>
            <a:ext cx="290565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Максимум волны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718304"/>
            <a:ext cx="2905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300 кг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4418" y="4297680"/>
            <a:ext cx="3362858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0450" y="4443984"/>
            <a:ext cx="290565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Интервал волн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0450" y="4718304"/>
            <a:ext cx="2905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14 дней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5876" y="4297680"/>
            <a:ext cx="3362858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1908" y="4443984"/>
            <a:ext cx="290565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Дедлайн до отправки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1908" y="4718304"/>
            <a:ext cx="2905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3 дня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257800"/>
            <a:ext cx="3362858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5404104"/>
            <a:ext cx="290565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Срок доставки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5678424"/>
            <a:ext cx="2905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10–14 дней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4418" y="5257800"/>
            <a:ext cx="3362858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70450" y="5404104"/>
            <a:ext cx="290565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Удержание оплаты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0450" y="5678424"/>
            <a:ext cx="2905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30 мин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5876" y="5257800"/>
            <a:ext cx="3362858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61908" y="5404104"/>
            <a:ext cx="290565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Часовой пояс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1908" y="5678424"/>
            <a:ext cx="2905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Asia/Yakutsk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632764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Сладкий мост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446520"/>
            <a:ext cx="1307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СЕЗОННЫЕ ПРАВИЛА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Логистика знает про физику: холод и сезон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9572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87752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Термоупаковка обязательна для чувствительных товаров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71800"/>
            <a:ext cx="777240" cy="566928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181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1640" y="2971800"/>
            <a:ext cx="777240" cy="566928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31181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971800"/>
            <a:ext cx="777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31181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8999" y="2971800"/>
            <a:ext cx="777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8999" y="31181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971800"/>
            <a:ext cx="777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31181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2971800"/>
            <a:ext cx="777240" cy="566928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31181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971800"/>
            <a:ext cx="777240" cy="566928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31181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2971800"/>
            <a:ext cx="777240" cy="566928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31181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2971800"/>
            <a:ext cx="777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1181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41080" y="2971800"/>
            <a:ext cx="777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31181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2971800"/>
            <a:ext cx="777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31181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78440" y="2971800"/>
            <a:ext cx="777240" cy="566928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78440" y="31181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666744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Зима (12, 1, 2) и летние месяцы (6, 7, 8) — шоколад и торт идут только в термопакет.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050791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Срок доставки увеличивается на 7 дней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434840"/>
            <a:ext cx="777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58114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91640" y="4434840"/>
            <a:ext cx="777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91640" y="458114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60320" y="4434840"/>
            <a:ext cx="777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0" y="458114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28999" y="4434840"/>
            <a:ext cx="777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8999" y="458114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4434840"/>
            <a:ext cx="777240" cy="566928"/>
          </a:xfrm>
          <a:prstGeom prst="round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0" y="458114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66360" y="4434840"/>
            <a:ext cx="777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66360" y="458114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4434840"/>
            <a:ext cx="777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0" y="458114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03720" y="4434840"/>
            <a:ext cx="777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03720" y="458114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0" y="4434840"/>
            <a:ext cx="777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0" y="458114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41080" y="4434840"/>
            <a:ext cx="777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41080" y="458114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О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509760" y="4434840"/>
            <a:ext cx="777240" cy="566928"/>
          </a:xfrm>
          <a:prstGeom prst="round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760" y="458114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Н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378440" y="4434840"/>
            <a:ext cx="777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78440" y="458114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5129783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Май и ноябрь — межсезонье: дорога, поэтому срок честно больше.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" y="5742432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5925312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Месяцы заданы списками в конфигурации: правило проверяется, а не зашито в интерфейс.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60" y="632764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Сладкий мост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0" y="6446520"/>
            <a:ext cx="1307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СЦЕНАРИИ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Три роли — три разных сценария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9572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697480"/>
            <a:ext cx="3332378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697480"/>
            <a:ext cx="3332378" cy="73152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944368"/>
            <a:ext cx="27837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5173"/>
                </a:solidFill>
                <a:latin typeface="Calibri"/>
                <a:ea typeface="Calibri"/>
                <a:cs typeface="Calibri"/>
              </a:rPr>
              <a:t>ГОСТЬ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291840"/>
            <a:ext cx="27837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Без регистрации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5568" y="3675887"/>
            <a:ext cx="2747162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3856" y="3913632"/>
            <a:ext cx="82296" cy="82296"/>
          </a:xfrm>
          <a:prstGeom prst="ellipse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35024" y="3840480"/>
            <a:ext cx="256428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Каталог с фильтрами</a:t>
            </a:r>
          </a:p>
        </p:txBody>
      </p:sp>
      <p:sp>
        <p:nvSpPr>
          <p:cNvPr id="12" name="Oval 11"/>
          <p:cNvSpPr/>
          <p:nvPr/>
        </p:nvSpPr>
        <p:spPr>
          <a:xfrm>
            <a:off x="1133856" y="4315968"/>
            <a:ext cx="82296" cy="82296"/>
          </a:xfrm>
          <a:prstGeom prst="ellipse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5024" y="4242816"/>
            <a:ext cx="256428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Корзина в сессии</a:t>
            </a:r>
          </a:p>
        </p:txBody>
      </p:sp>
      <p:sp>
        <p:nvSpPr>
          <p:cNvPr id="14" name="Oval 13"/>
          <p:cNvSpPr/>
          <p:nvPr/>
        </p:nvSpPr>
        <p:spPr>
          <a:xfrm>
            <a:off x="1133856" y="4718304"/>
            <a:ext cx="82296" cy="82296"/>
          </a:xfrm>
          <a:prstGeom prst="ellipse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35024" y="4645152"/>
            <a:ext cx="256428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Оформление и промокод</a:t>
            </a:r>
          </a:p>
        </p:txBody>
      </p:sp>
      <p:sp>
        <p:nvSpPr>
          <p:cNvPr id="16" name="Oval 15"/>
          <p:cNvSpPr/>
          <p:nvPr/>
        </p:nvSpPr>
        <p:spPr>
          <a:xfrm>
            <a:off x="1133856" y="5120640"/>
            <a:ext cx="82296" cy="82296"/>
          </a:xfrm>
          <a:prstGeom prst="ellipse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35024" y="5047488"/>
            <a:ext cx="256428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Трекер по номеру</a:t>
            </a:r>
          </a:p>
        </p:txBody>
      </p:sp>
      <p:sp>
        <p:nvSpPr>
          <p:cNvPr id="18" name="Oval 17"/>
          <p:cNvSpPr/>
          <p:nvPr/>
        </p:nvSpPr>
        <p:spPr>
          <a:xfrm>
            <a:off x="1133856" y="5522976"/>
            <a:ext cx="82296" cy="82296"/>
          </a:xfrm>
          <a:prstGeom prst="ellipse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35024" y="5449824"/>
            <a:ext cx="256428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PDF-накладная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9658" y="2697480"/>
            <a:ext cx="3332378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29658" y="2697480"/>
            <a:ext cx="3332378" cy="73152"/>
          </a:xfrm>
          <a:prstGeom prst="round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2266" y="2944368"/>
            <a:ext cx="27837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ПОКУПАТЕЛЬ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2266" y="3291840"/>
            <a:ext cx="27837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Личный кабинет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22266" y="3675887"/>
            <a:ext cx="2747162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40554" y="3913632"/>
            <a:ext cx="82296" cy="82296"/>
          </a:xfrm>
          <a:prstGeom prst="ellipse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41722" y="3840480"/>
            <a:ext cx="256428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Регистрация и вход</a:t>
            </a:r>
          </a:p>
        </p:txBody>
      </p:sp>
      <p:sp>
        <p:nvSpPr>
          <p:cNvPr id="27" name="Oval 26"/>
          <p:cNvSpPr/>
          <p:nvPr/>
        </p:nvSpPr>
        <p:spPr>
          <a:xfrm>
            <a:off x="4740554" y="4315968"/>
            <a:ext cx="82296" cy="82296"/>
          </a:xfrm>
          <a:prstGeom prst="ellipse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41722" y="4242816"/>
            <a:ext cx="256428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Заказы и статусы</a:t>
            </a:r>
          </a:p>
        </p:txBody>
      </p:sp>
      <p:sp>
        <p:nvSpPr>
          <p:cNvPr id="29" name="Oval 28"/>
          <p:cNvSpPr/>
          <p:nvPr/>
        </p:nvSpPr>
        <p:spPr>
          <a:xfrm>
            <a:off x="4740554" y="4718304"/>
            <a:ext cx="82296" cy="82296"/>
          </a:xfrm>
          <a:prstGeom prst="ellipse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41722" y="4645152"/>
            <a:ext cx="256428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Избранное</a:t>
            </a:r>
          </a:p>
        </p:txBody>
      </p:sp>
      <p:sp>
        <p:nvSpPr>
          <p:cNvPr id="31" name="Oval 30"/>
          <p:cNvSpPr/>
          <p:nvPr/>
        </p:nvSpPr>
        <p:spPr>
          <a:xfrm>
            <a:off x="4740554" y="5120640"/>
            <a:ext cx="82296" cy="82296"/>
          </a:xfrm>
          <a:prstGeom prst="ellipse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41722" y="5047488"/>
            <a:ext cx="256428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Уведомления</a:t>
            </a:r>
          </a:p>
        </p:txBody>
      </p:sp>
      <p:sp>
        <p:nvSpPr>
          <p:cNvPr id="33" name="Oval 32"/>
          <p:cNvSpPr/>
          <p:nvPr/>
        </p:nvSpPr>
        <p:spPr>
          <a:xfrm>
            <a:off x="4740554" y="5522976"/>
            <a:ext cx="82296" cy="82296"/>
          </a:xfrm>
          <a:prstGeom prst="ellipse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41722" y="5449824"/>
            <a:ext cx="256428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Отмена и повтор заказа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36356" y="2697480"/>
            <a:ext cx="3332378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36356" y="2697480"/>
            <a:ext cx="3332378" cy="73152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8964" y="2944368"/>
            <a:ext cx="27837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5173"/>
                </a:solidFill>
                <a:latin typeface="Calibri"/>
                <a:ea typeface="Calibri"/>
                <a:cs typeface="Calibri"/>
              </a:rPr>
              <a:t>АДМИНИСТРАТОР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8964" y="3291840"/>
            <a:ext cx="27837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Управление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8964" y="3675887"/>
            <a:ext cx="2747162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347252" y="3913632"/>
            <a:ext cx="82296" cy="82296"/>
          </a:xfrm>
          <a:prstGeom prst="ellipse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8420" y="3840480"/>
            <a:ext cx="256428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Сводка по волнам</a:t>
            </a:r>
          </a:p>
        </p:txBody>
      </p:sp>
      <p:sp>
        <p:nvSpPr>
          <p:cNvPr id="42" name="Oval 41"/>
          <p:cNvSpPr/>
          <p:nvPr/>
        </p:nvSpPr>
        <p:spPr>
          <a:xfrm>
            <a:off x="8347252" y="4315968"/>
            <a:ext cx="82296" cy="82296"/>
          </a:xfrm>
          <a:prstGeom prst="ellipse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8420" y="4242816"/>
            <a:ext cx="256428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Создание и отправка волны</a:t>
            </a:r>
          </a:p>
        </p:txBody>
      </p:sp>
      <p:sp>
        <p:nvSpPr>
          <p:cNvPr id="44" name="Oval 43"/>
          <p:cNvSpPr/>
          <p:nvPr/>
        </p:nvSpPr>
        <p:spPr>
          <a:xfrm>
            <a:off x="8347252" y="4718304"/>
            <a:ext cx="82296" cy="82296"/>
          </a:xfrm>
          <a:prstGeom prst="ellipse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8420" y="4645152"/>
            <a:ext cx="256428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Товары с загрузкой фото</a:t>
            </a:r>
          </a:p>
        </p:txBody>
      </p:sp>
      <p:sp>
        <p:nvSpPr>
          <p:cNvPr id="46" name="Oval 45"/>
          <p:cNvSpPr/>
          <p:nvPr/>
        </p:nvSpPr>
        <p:spPr>
          <a:xfrm>
            <a:off x="8347252" y="5120640"/>
            <a:ext cx="82296" cy="82296"/>
          </a:xfrm>
          <a:prstGeom prst="ellipse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8420" y="5047488"/>
            <a:ext cx="256428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Промокоды и пункты выдачи</a:t>
            </a:r>
          </a:p>
        </p:txBody>
      </p:sp>
      <p:sp>
        <p:nvSpPr>
          <p:cNvPr id="48" name="Oval 47"/>
          <p:cNvSpPr/>
          <p:nvPr/>
        </p:nvSpPr>
        <p:spPr>
          <a:xfrm>
            <a:off x="8347252" y="5522976"/>
            <a:ext cx="82296" cy="82296"/>
          </a:xfrm>
          <a:prstGeom prst="ellipse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48420" y="5449824"/>
            <a:ext cx="256428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Журнал действий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632764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Сладкий мост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6446520"/>
            <a:ext cx="1307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КАТАЛОГ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20 позиций, 10 с каждой стороны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9572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Каталог загружается из CSV при первом старте и сразу становится рабочим.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5090007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3200400"/>
            <a:ext cx="5090007" cy="73152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456432"/>
            <a:ext cx="44499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5173"/>
                </a:solidFill>
                <a:latin typeface="Calibri"/>
                <a:ea typeface="Calibri"/>
                <a:cs typeface="Calibri"/>
              </a:rPr>
              <a:t>ЯКУТИЯ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22191"/>
            <a:ext cx="44499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ЯХК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160520"/>
            <a:ext cx="44499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320–540 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590288"/>
            <a:ext cx="444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цены за позицию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956048"/>
            <a:ext cx="841248" cy="292608"/>
          </a:xfrm>
          <a:prstGeom prst="roundRect">
            <a:avLst/>
          </a:prstGeom>
          <a:solidFill>
            <a:srgbClr val="D8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010912"/>
            <a:ext cx="841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Шоколад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93976" y="4956048"/>
            <a:ext cx="932688" cy="292608"/>
          </a:xfrm>
          <a:prstGeom prst="roundRect">
            <a:avLst/>
          </a:prstGeom>
          <a:solidFill>
            <a:srgbClr val="D8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93976" y="5010912"/>
            <a:ext cx="9326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Карамель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36392" y="4956048"/>
            <a:ext cx="841248" cy="292608"/>
          </a:xfrm>
          <a:prstGeom prst="roundRect">
            <a:avLst/>
          </a:prstGeom>
          <a:solidFill>
            <a:srgbClr val="D8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36392" y="5010912"/>
            <a:ext cx="841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Печенье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87368" y="4956048"/>
            <a:ext cx="932688" cy="292608"/>
          </a:xfrm>
          <a:prstGeom prst="roundRect">
            <a:avLst/>
          </a:prstGeom>
          <a:solidFill>
            <a:srgbClr val="D8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87368" y="5010912"/>
            <a:ext cx="9326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Мармелад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340096"/>
            <a:ext cx="658368" cy="292608"/>
          </a:xfrm>
          <a:prstGeom prst="roundRect">
            <a:avLst/>
          </a:prstGeom>
          <a:solidFill>
            <a:srgbClr val="D8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5394959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Зефир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11095" y="5340096"/>
            <a:ext cx="841248" cy="292608"/>
          </a:xfrm>
          <a:prstGeom prst="roundRect">
            <a:avLst/>
          </a:prstGeom>
          <a:solidFill>
            <a:srgbClr val="D8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11095" y="5394959"/>
            <a:ext cx="841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Пряники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8727" y="3200400"/>
            <a:ext cx="5090007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78727" y="3200400"/>
            <a:ext cx="5090007" cy="73152"/>
          </a:xfrm>
          <a:prstGeom prst="round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8767" y="3456432"/>
            <a:ext cx="44499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ДНР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8767" y="3822191"/>
            <a:ext cx="44499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Донецкая кондитерская фабрика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8767" y="4160520"/>
            <a:ext cx="44499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290–1 250 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8767" y="4590288"/>
            <a:ext cx="444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цены за позицию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98767" y="4956048"/>
            <a:ext cx="841248" cy="292608"/>
          </a:xfrm>
          <a:prstGeom prst="roundRect">
            <a:avLst/>
          </a:prstGeom>
          <a:solidFill>
            <a:srgbClr val="FBE6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98767" y="5010912"/>
            <a:ext cx="841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Шоколад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9743" y="4956048"/>
            <a:ext cx="932688" cy="292608"/>
          </a:xfrm>
          <a:prstGeom prst="roundRect">
            <a:avLst/>
          </a:prstGeom>
          <a:solidFill>
            <a:srgbClr val="FBE6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9743" y="5010912"/>
            <a:ext cx="9326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Карамель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2159" y="4956048"/>
            <a:ext cx="841248" cy="292608"/>
          </a:xfrm>
          <a:prstGeom prst="roundRect">
            <a:avLst/>
          </a:prstGeom>
          <a:solidFill>
            <a:srgbClr val="FBE6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2159" y="5010912"/>
            <a:ext cx="841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Печенье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43135" y="4956048"/>
            <a:ext cx="932688" cy="292608"/>
          </a:xfrm>
          <a:prstGeom prst="roundRect">
            <a:avLst/>
          </a:prstGeom>
          <a:solidFill>
            <a:srgbClr val="FBE6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43135" y="5010912"/>
            <a:ext cx="9326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Мармелад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98767" y="5340096"/>
            <a:ext cx="658368" cy="292608"/>
          </a:xfrm>
          <a:prstGeom prst="roundRect">
            <a:avLst/>
          </a:prstGeom>
          <a:solidFill>
            <a:srgbClr val="FBE6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8767" y="5394959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Зефир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66863" y="5340096"/>
            <a:ext cx="841248" cy="292608"/>
          </a:xfrm>
          <a:prstGeom prst="roundRect">
            <a:avLst/>
          </a:prstGeom>
          <a:solidFill>
            <a:srgbClr val="FBE6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6863" y="5394959"/>
            <a:ext cx="841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Пряники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17839" y="5340096"/>
            <a:ext cx="658368" cy="292608"/>
          </a:xfrm>
          <a:prstGeom prst="roundRect">
            <a:avLst/>
          </a:prstGeom>
          <a:solidFill>
            <a:srgbClr val="FBE6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17839" y="5394959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Торты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94360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У каждой позиции — вес, цена, срок годности и признак чувствительности к температуре.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632764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Сладкий мост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446520"/>
            <a:ext cx="1307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Слои разделены: домен не знает
про EF Core и веб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57860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880360"/>
            <a:ext cx="694944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64008" cy="804672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0266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5173"/>
                </a:solidFill>
                <a:latin typeface="Calibri"/>
                <a:ea typeface="Calibri"/>
                <a:cs typeface="Calibri"/>
              </a:rPr>
              <a:t>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3756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Razor Pages · 52 страницы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94760"/>
            <a:ext cx="694944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794760"/>
            <a:ext cx="64008" cy="804672"/>
          </a:xfrm>
          <a:prstGeom prst="round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9410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25196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каталог · корзина · волны · заказы · промо · отчёты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709160"/>
            <a:ext cx="694944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4709160"/>
            <a:ext cx="64008" cy="804672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8554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5173"/>
                </a:solidFill>
                <a:latin typeface="Calibri"/>
                <a:ea typeface="Calibri"/>
                <a:cs typeface="Calibri"/>
              </a:rPr>
              <a:t>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6636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сущности · правила · исключения домена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632704"/>
            <a:ext cx="6949440" cy="18288"/>
          </a:xfrm>
          <a:prstGeom prst="round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5760720"/>
            <a:ext cx="69494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8521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Infrastructure: EF Core · Identity · фоновые задачи · health-check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880360"/>
            <a:ext cx="3136392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9992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3558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страницы Razor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703320"/>
            <a:ext cx="3136392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382219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165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1788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C#-файлов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526280"/>
            <a:ext cx="3136392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6451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001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миграций БД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5349240"/>
            <a:ext cx="3136392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54681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78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582472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тестов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632764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Сладкий мост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446520"/>
            <a:ext cx="1307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НАДЁЖНОСТЬ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78 тестов и защита от гонок
при бронировании места в волне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57860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880360"/>
            <a:ext cx="5112867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64008" cy="932688"/>
          </a:xfrm>
          <a:prstGeom prst="round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3008376"/>
            <a:ext cx="45642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Гонки при бронировании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319272"/>
            <a:ext cx="45642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Счётчик LoadedGrams защищён rowversion; оформление — одна транзакция с тремя повторами при конфликте.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2880360"/>
            <a:ext cx="5112867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55867" y="2880360"/>
            <a:ext cx="64008" cy="932688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8475" y="3008376"/>
            <a:ext cx="45642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Строгая CSP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8475" y="3319272"/>
            <a:ext cx="45642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Запрещены inline-скрипты и стили. Проверено тестом: ни одного onclick= и style= на страницах.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59352"/>
            <a:ext cx="5112867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959352"/>
            <a:ext cx="64008" cy="932688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4087368"/>
            <a:ext cx="45642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Ограничение частоты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4398264"/>
            <a:ext cx="45642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Вход и регистрация, трекинг, формы и общий лимит — раздельные окна.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5867" y="3959352"/>
            <a:ext cx="5112867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55867" y="3959352"/>
            <a:ext cx="64008" cy="932688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8475" y="4087368"/>
            <a:ext cx="45642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Загрузка изображений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8475" y="4398264"/>
            <a:ext cx="45642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Только PNG/JPEG/WEBP до 2 МБ, проверка сигнатуры файла, имя — GUID.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038344"/>
            <a:ext cx="5112867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5038344"/>
            <a:ext cx="64008" cy="932688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5166359"/>
            <a:ext cx="45642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Учётная запись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477256"/>
            <a:ext cx="45642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Блокировка после 5 неудачных попыток, antiforgery на всех формах.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5867" y="5038344"/>
            <a:ext cx="5112867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5867" y="5038344"/>
            <a:ext cx="64008" cy="932688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8475" y="5166359"/>
            <a:ext cx="45642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Маскирование данных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8475" y="5477256"/>
            <a:ext cx="45642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Пароли не логируются, почта и телефон маскируются в журнале действий.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632764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Сладкий мост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46520"/>
            <a:ext cx="1307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Готово к пилоту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7680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64008" cy="914400"/>
          </a:xfrm>
          <a:prstGeom prst="round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8600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Механика волны работает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Вместимость, минимальная загрузка, дедлайны и скидки — проверяемые правила домена.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91256"/>
            <a:ext cx="7680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191256"/>
            <a:ext cx="64008" cy="914400"/>
          </a:xfrm>
          <a:prstGeom prst="round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328416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Система доведена до пользователя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648456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Три роли, 52 страницы, 20 позиций каталога, накладная и письма.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33672"/>
            <a:ext cx="7680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233672"/>
            <a:ext cx="64008" cy="914400"/>
          </a:xfrm>
          <a:prstGeom prst="round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37083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Риски закрыты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69087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78 тестов, транзакции, защита от гонок, строгая CSP, доступность 1.0.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148840"/>
            <a:ext cx="2496312" cy="2999232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5712" y="2395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CBEA"/>
                </a:solidFill>
                <a:latin typeface="Calibri"/>
                <a:ea typeface="Calibri"/>
                <a:cs typeface="Calibri"/>
              </a:rPr>
              <a:t>СЛЕДУЮЩИЙ ШАГ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2788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Пилот
на реальных
волнах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38862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CD6E4"/>
                </a:solidFill>
                <a:latin typeface="Calibri"/>
                <a:ea typeface="Calibri"/>
                <a:cs typeface="Calibri"/>
              </a:rPr>
              <a:t>Подключение платёжного
провайдера и SMTP —
замена одной регистрации.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715000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8978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Сладкий мост · между Якутией и ДНР · при поддержке Корпорации развития Республики Саха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632764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Сладкий мост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46520"/>
            <a:ext cx="1307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