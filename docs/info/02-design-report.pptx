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85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03654"/>
                </a:solidFill>
                <a:latin typeface="Calibri"/>
                <a:ea typeface="Calibri"/>
                <a:cs typeface="Calibri"/>
              </a:rPr>
              <a:t>ОТЧЁТ ПО ДИЗАЙНУ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Дизайн-система
«Сладкий мост»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Собственная система на CSS-переменных: палитра, типографика,
сетка, компоненты и доступность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749039"/>
            <a:ext cx="10545775" cy="18288"/>
          </a:xfrm>
          <a:prstGeom prst="rect">
            <a:avLst/>
          </a:prstGeom>
          <a:solidFill>
            <a:srgbClr val="E6DC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4114800"/>
            <a:ext cx="1962851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315968"/>
            <a:ext cx="150565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C03654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864608"/>
            <a:ext cx="150565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цветовых токенов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68691" y="4114800"/>
            <a:ext cx="1962851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97291" y="4315968"/>
            <a:ext cx="150565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C03654"/>
                </a:solidFill>
                <a:latin typeface="Calibri"/>
                <a:ea typeface="Calibri"/>
                <a:cs typeface="Calibri"/>
              </a:rPr>
              <a:t>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97291" y="4864608"/>
            <a:ext cx="150565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переменных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14422" y="4114800"/>
            <a:ext cx="1962851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43022" y="4315968"/>
            <a:ext cx="150565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C03654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3022" y="4864608"/>
            <a:ext cx="150565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шрифтовых файлов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0153" y="4114800"/>
            <a:ext cx="1962851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88753" y="4315968"/>
            <a:ext cx="150565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C03654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88753" y="4864608"/>
            <a:ext cx="150565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брейкпоинтов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05884" y="4114800"/>
            <a:ext cx="1962851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34484" y="4315968"/>
            <a:ext cx="150565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C03654"/>
                </a:solidFill>
                <a:latin typeface="Calibri"/>
                <a:ea typeface="Calibri"/>
                <a:cs typeface="Calibri"/>
              </a:rPr>
              <a:t>1.0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34484" y="4864608"/>
            <a:ext cx="150565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Lighthouse A11y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76072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Без Bootstrap и без сторонних UI-китов. Строгая CSP — inline-стили и скрипты запрещены.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03654"/>
                </a:solidFill>
                <a:latin typeface="Calibri"/>
                <a:ea typeface="Calibri"/>
                <a:cs typeface="Calibri"/>
              </a:rPr>
              <a:t>РАМКИ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32688"/>
            <a:ext cx="10424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Два ограничения, которые определили всё решение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578608"/>
            <a:ext cx="10545775" cy="18288"/>
          </a:xfrm>
          <a:prstGeom prst="rect">
            <a:avLst/>
          </a:prstGeom>
          <a:solidFill>
            <a:srgbClr val="E6DC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БЫЛО ПРИНЯТО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2834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3654"/>
                </a:solidFill>
                <a:latin typeface="Calibri"/>
                <a:ea typeface="Calibri"/>
                <a:cs typeface="Calibri"/>
              </a:rPr>
              <a:t>ЧТО ЭТО ЗАПРЕЩАЕТ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200400"/>
            <a:ext cx="512064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3200400"/>
            <a:ext cx="64008" cy="1371600"/>
          </a:xfrm>
          <a:prstGeom prst="roundRect">
            <a:avLst/>
          </a:prstGeom>
          <a:solidFill>
            <a:srgbClr val="0F51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4015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5173"/>
                </a:solidFill>
                <a:latin typeface="Calibri"/>
                <a:ea typeface="Calibri"/>
                <a:cs typeface="Calibri"/>
              </a:rPr>
              <a:t>Строгая политика CSP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794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style-src 'self', script-src 'self'.
Инлайновые стили и скрипты — ошибка.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709160"/>
            <a:ext cx="512064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4709160"/>
            <a:ext cx="64008" cy="1371600"/>
          </a:xfrm>
          <a:prstGeom prst="roundRect">
            <a:avLst/>
          </a:prstGeom>
          <a:solidFill>
            <a:srgbClr val="C036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9103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03654"/>
                </a:solidFill>
                <a:latin typeface="Calibri"/>
                <a:ea typeface="Calibri"/>
                <a:cs typeface="Calibri"/>
              </a:rPr>
              <a:t>font-src 'self'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3035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Внешние CDN недоступны —
шрифты пришлось положить в репозиторий.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3200400"/>
            <a:ext cx="4782312" cy="1371600"/>
          </a:xfrm>
          <a:prstGeom prst="roundRect">
            <a:avLst/>
          </a:prstGeom>
          <a:solidFill>
            <a:srgbClr val="0F51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342900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CCBEA"/>
                </a:solidFill>
                <a:latin typeface="Calibri"/>
                <a:ea typeface="Calibri"/>
                <a:cs typeface="Calibri"/>
              </a:rPr>
              <a:t>Следствие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379476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DCEBF2"/>
                </a:solidFill>
                <a:latin typeface="Calibri"/>
                <a:ea typeface="Calibri"/>
                <a:cs typeface="Calibri"/>
              </a:rPr>
              <a:t>Вся стилистика вынесена во внешние CSS.
Ни одного style= и onclick= на 52 страницах.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4709160"/>
            <a:ext cx="4782312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491032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03654"/>
                </a:solidFill>
                <a:latin typeface="Calibri"/>
                <a:ea typeface="Calibri"/>
                <a:cs typeface="Calibri"/>
              </a:rPr>
              <a:t>Следствие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525780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Иконки пришлось встроить в разметку:
внешний спрайт блокировался политикой CORS.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327648"/>
            <a:ext cx="10545775" cy="18288"/>
          </a:xfrm>
          <a:prstGeom prst="rect">
            <a:avLst/>
          </a:prstGeom>
          <a:solidFill>
            <a:srgbClr val="E6DC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Дизайн-система · Сладкий мост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446520"/>
            <a:ext cx="1307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03654"/>
                </a:solidFill>
                <a:latin typeface="Calibri"/>
                <a:ea typeface="Calibri"/>
                <a:cs typeface="Calibri"/>
              </a:rPr>
              <a:t>ПАЛИТРА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32688"/>
            <a:ext cx="10424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17 цветовых токенов — весь цвет интерфейса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395728"/>
            <a:ext cx="10545775" cy="18288"/>
          </a:xfrm>
          <a:prstGeom prst="rect">
            <a:avLst/>
          </a:prstGeom>
          <a:solidFill>
            <a:srgbClr val="E6DC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697480"/>
            <a:ext cx="1643329" cy="548640"/>
          </a:xfrm>
          <a:prstGeom prst="roundRect">
            <a:avLst/>
          </a:prstGeom>
          <a:solidFill>
            <a:srgbClr val="FFF7F0"/>
          </a:solidFill>
          <a:ln w="12700">
            <a:solidFill>
              <a:srgbClr val="E6DCC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319272"/>
            <a:ext cx="164332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#FFF7F0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47872"/>
            <a:ext cx="164332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Фон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03449" y="2697480"/>
            <a:ext cx="1643329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CC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3449" y="3319272"/>
            <a:ext cx="164332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#FFFFFF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3449" y="3547872"/>
            <a:ext cx="164332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Поверхность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3938" y="2697480"/>
            <a:ext cx="1643329" cy="548640"/>
          </a:xfrm>
          <a:prstGeom prst="roundRect">
            <a:avLst/>
          </a:prstGeom>
          <a:solidFill>
            <a:srgbClr val="2A171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3938" y="3319272"/>
            <a:ext cx="164332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#2A1710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3938" y="3547872"/>
            <a:ext cx="164332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Чернила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4427" y="2697480"/>
            <a:ext cx="1643329" cy="548640"/>
          </a:xfrm>
          <a:prstGeom prst="roundRect">
            <a:avLst/>
          </a:prstGeom>
          <a:solidFill>
            <a:srgbClr val="0F51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64427" y="3319272"/>
            <a:ext cx="164332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#0F5173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4427" y="3547872"/>
            <a:ext cx="164332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Тёмно-синий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44916" y="2697480"/>
            <a:ext cx="1643329" cy="548640"/>
          </a:xfrm>
          <a:prstGeom prst="roundRect">
            <a:avLst/>
          </a:prstGeom>
          <a:solidFill>
            <a:srgbClr val="0A3D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44916" y="3319272"/>
            <a:ext cx="164332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#0A3D58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44916" y="3547872"/>
            <a:ext cx="164332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Тёмно-синий 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25406" y="2697480"/>
            <a:ext cx="1643329" cy="548640"/>
          </a:xfrm>
          <a:prstGeom prst="roundRect">
            <a:avLst/>
          </a:prstGeom>
          <a:solidFill>
            <a:srgbClr val="C036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25406" y="3319272"/>
            <a:ext cx="164332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#C03654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25406" y="3547872"/>
            <a:ext cx="164332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Акцент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3813048"/>
            <a:ext cx="1643329" cy="548640"/>
          </a:xfrm>
          <a:prstGeom prst="roundRect">
            <a:avLst/>
          </a:prstGeom>
          <a:solidFill>
            <a:srgbClr val="FDE6EB"/>
          </a:solidFill>
          <a:ln w="12700">
            <a:solidFill>
              <a:srgbClr val="E6DCC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434840"/>
            <a:ext cx="164332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#FDE6EB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663440"/>
            <a:ext cx="164332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Акцент-подложка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603449" y="3813048"/>
            <a:ext cx="1643329" cy="548640"/>
          </a:xfrm>
          <a:prstGeom prst="roundRect">
            <a:avLst/>
          </a:prstGeom>
          <a:solidFill>
            <a:srgbClr val="E6DCC3"/>
          </a:solidFill>
          <a:ln w="12700">
            <a:solidFill>
              <a:srgbClr val="E6DCC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03449" y="4434840"/>
            <a:ext cx="164332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#E6DCC3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03449" y="4663440"/>
            <a:ext cx="164332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Граница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83938" y="3813048"/>
            <a:ext cx="1643329" cy="548640"/>
          </a:xfrm>
          <a:prstGeom prst="roundRect">
            <a:avLst/>
          </a:prstGeom>
          <a:solidFill>
            <a:srgbClr val="D4C7A6"/>
          </a:solidFill>
          <a:ln w="12700">
            <a:solidFill>
              <a:srgbClr val="E6DCC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3938" y="4434840"/>
            <a:ext cx="164332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#D4C7A6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3938" y="4663440"/>
            <a:ext cx="164332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Граница сильнее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64427" y="3813048"/>
            <a:ext cx="1643329" cy="548640"/>
          </a:xfrm>
          <a:prstGeom prst="roundRect">
            <a:avLst/>
          </a:prstGeom>
          <a:solidFill>
            <a:srgbClr val="70635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64427" y="4434840"/>
            <a:ext cx="164332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#706359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64427" y="4663440"/>
            <a:ext cx="164332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Приглушённый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44916" y="3813048"/>
            <a:ext cx="1643329" cy="548640"/>
          </a:xfrm>
          <a:prstGeom prst="roundRect">
            <a:avLst/>
          </a:prstGeom>
          <a:solidFill>
            <a:srgbClr val="D8EEF8"/>
          </a:solidFill>
          <a:ln w="12700">
            <a:solidFill>
              <a:srgbClr val="E6DCC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44916" y="4434840"/>
            <a:ext cx="164332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#D8EEF8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44916" y="4663440"/>
            <a:ext cx="164332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Якутия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725406" y="3813048"/>
            <a:ext cx="1643329" cy="548640"/>
          </a:xfrm>
          <a:prstGeom prst="roundRect">
            <a:avLst/>
          </a:prstGeom>
          <a:solidFill>
            <a:srgbClr val="FBE6CC"/>
          </a:solidFill>
          <a:ln w="12700">
            <a:solidFill>
              <a:srgbClr val="E6DCC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25406" y="4434840"/>
            <a:ext cx="164332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#FBE6CC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25406" y="4663440"/>
            <a:ext cx="164332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ДНР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60" y="4928616"/>
            <a:ext cx="1643329" cy="548640"/>
          </a:xfrm>
          <a:prstGeom prst="roundRect">
            <a:avLst/>
          </a:prstGeom>
          <a:solidFill>
            <a:srgbClr val="177A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5550408"/>
            <a:ext cx="164332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#177A50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5779008"/>
            <a:ext cx="164332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Успех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603449" y="4928616"/>
            <a:ext cx="1643329" cy="548640"/>
          </a:xfrm>
          <a:prstGeom prst="roundRect">
            <a:avLst/>
          </a:prstGeom>
          <a:solidFill>
            <a:srgbClr val="9A5F0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603449" y="5550408"/>
            <a:ext cx="164332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#9A5F08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03449" y="5779008"/>
            <a:ext cx="164332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Предупреждение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83938" y="4928616"/>
            <a:ext cx="1643329" cy="548640"/>
          </a:xfrm>
          <a:prstGeom prst="roundRect">
            <a:avLst/>
          </a:prstGeom>
          <a:solidFill>
            <a:srgbClr val="C93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83938" y="5550408"/>
            <a:ext cx="164332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#C93B3B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83938" y="5779008"/>
            <a:ext cx="164332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Ошибка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64427" y="4928616"/>
            <a:ext cx="1643329" cy="548640"/>
          </a:xfrm>
          <a:prstGeom prst="roundRect">
            <a:avLst/>
          </a:prstGeom>
          <a:solidFill>
            <a:srgbClr val="7CCBEA"/>
          </a:solidFill>
          <a:ln w="12700">
            <a:solidFill>
              <a:srgbClr val="E6DCC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64427" y="5550408"/>
            <a:ext cx="164332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#7CCBEA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64427" y="5779008"/>
            <a:ext cx="164332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Прогресс 1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944916" y="4928616"/>
            <a:ext cx="1643329" cy="548640"/>
          </a:xfrm>
          <a:prstGeom prst="roundRect">
            <a:avLst/>
          </a:prstGeom>
          <a:solidFill>
            <a:srgbClr val="E9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44916" y="5550408"/>
            <a:ext cx="164332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#E95D79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44916" y="5779008"/>
            <a:ext cx="164332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Прогресс 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2960" y="6327648"/>
            <a:ext cx="10545775" cy="18288"/>
          </a:xfrm>
          <a:prstGeom prst="rect">
            <a:avLst/>
          </a:prstGeom>
          <a:solidFill>
            <a:srgbClr val="E6DC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Дизайн-система · Сладкий мост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58400" y="6446520"/>
            <a:ext cx="1307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03654"/>
                </a:solidFill>
                <a:latin typeface="Calibri"/>
                <a:ea typeface="Calibri"/>
                <a:cs typeface="Calibri"/>
              </a:rPr>
              <a:t>СЕМАНТИКА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32688"/>
            <a:ext cx="10424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Цвет не украшает — он сообщает смысл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578608"/>
            <a:ext cx="10545775" cy="18288"/>
          </a:xfrm>
          <a:prstGeom prst="rect">
            <a:avLst/>
          </a:prstGeom>
          <a:solidFill>
            <a:srgbClr val="E6DC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880360"/>
            <a:ext cx="10545775" cy="9326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209544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5173"/>
                </a:solidFill>
                <a:latin typeface="Calibri"/>
                <a:ea typeface="Calibri"/>
                <a:cs typeface="Calibri"/>
              </a:rPr>
              <a:t>РЕГИОНЫ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79" y="3118104"/>
            <a:ext cx="502920" cy="457200"/>
          </a:xfrm>
          <a:prstGeom prst="roundRect">
            <a:avLst/>
          </a:prstGeom>
          <a:solidFill>
            <a:srgbClr val="D8EEF8"/>
          </a:solidFill>
          <a:ln w="12700">
            <a:solidFill>
              <a:srgbClr val="E6DCC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05072" y="322783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Якутия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23560" y="3118104"/>
            <a:ext cx="502920" cy="457200"/>
          </a:xfrm>
          <a:prstGeom prst="roundRect">
            <a:avLst/>
          </a:prstGeom>
          <a:solidFill>
            <a:srgbClr val="FBE6CC"/>
          </a:solidFill>
          <a:ln w="12700">
            <a:solidFill>
              <a:srgbClr val="E6DCC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45352" y="322783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ДНР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538728"/>
            <a:ext cx="999713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Страна и товар различаются цветом в каталоге и чипах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941063"/>
            <a:ext cx="10545775" cy="9326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7024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5173"/>
                </a:solidFill>
                <a:latin typeface="Calibri"/>
                <a:ea typeface="Calibri"/>
                <a:cs typeface="Calibri"/>
              </a:rPr>
              <a:t>СТАТУСЫ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79" y="4178807"/>
            <a:ext cx="502920" cy="457200"/>
          </a:xfrm>
          <a:prstGeom prst="roundRect">
            <a:avLst/>
          </a:prstGeom>
          <a:solidFill>
            <a:srgbClr val="177A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05072" y="428853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успех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23560" y="4178807"/>
            <a:ext cx="502920" cy="457200"/>
          </a:xfrm>
          <a:prstGeom prst="roundRect">
            <a:avLst/>
          </a:prstGeom>
          <a:solidFill>
            <a:srgbClr val="9A5F0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45352" y="428853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внимание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4178807"/>
            <a:ext cx="502920" cy="457200"/>
          </a:xfrm>
          <a:prstGeom prst="roundRect">
            <a:avLst/>
          </a:prstGeom>
          <a:solidFill>
            <a:srgbClr val="C93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85632" y="428853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ошибка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599431"/>
            <a:ext cx="999713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Один язык для статусов заказа и системных сообщений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001768"/>
            <a:ext cx="10545775" cy="9326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33095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5173"/>
                </a:solidFill>
                <a:latin typeface="Calibri"/>
                <a:ea typeface="Calibri"/>
                <a:cs typeface="Calibri"/>
              </a:rPr>
              <a:t>ПРОГРЕСС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83279" y="5239512"/>
            <a:ext cx="502920" cy="457200"/>
          </a:xfrm>
          <a:prstGeom prst="roundRect">
            <a:avLst/>
          </a:prstGeom>
          <a:solidFill>
            <a:srgbClr val="7CCBEA"/>
          </a:solidFill>
          <a:ln w="12700">
            <a:solidFill>
              <a:srgbClr val="E6DCC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05072" y="53492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начало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23560" y="5239512"/>
            <a:ext cx="502920" cy="457200"/>
          </a:xfrm>
          <a:prstGeom prst="roundRect">
            <a:avLst/>
          </a:prstGeom>
          <a:solidFill>
            <a:srgbClr val="E9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45352" y="53492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конец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660136"/>
            <a:ext cx="999713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Градиент заполнения волны — от свободных слотов к полным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6327648"/>
            <a:ext cx="10545775" cy="18288"/>
          </a:xfrm>
          <a:prstGeom prst="rect">
            <a:avLst/>
          </a:prstGeom>
          <a:solidFill>
            <a:srgbClr val="E6DC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Дизайн-система · Сладкий мост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6446520"/>
            <a:ext cx="1307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03654"/>
                </a:solidFill>
                <a:latin typeface="Calibri"/>
                <a:ea typeface="Calibri"/>
                <a:cs typeface="Calibri"/>
              </a:rPr>
              <a:t>ТИПОГРАФИКА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32688"/>
            <a:ext cx="10424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Два семейства, подключённые локально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395728"/>
            <a:ext cx="10545775" cy="18288"/>
          </a:xfrm>
          <a:prstGeom prst="rect">
            <a:avLst/>
          </a:prstGeom>
          <a:solidFill>
            <a:srgbClr val="E6DC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697480"/>
            <a:ext cx="51206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880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3654"/>
                </a:solidFill>
                <a:latin typeface="Calibri"/>
                <a:ea typeface="Calibri"/>
                <a:cs typeface="Calibri"/>
              </a:rPr>
              <a:t>ЗАГОЛОВКИ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200400"/>
            <a:ext cx="4572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Unbounded 800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Геометричный гротеск. Только вес 800 —
одна визуальная интонация заголовков.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2697480"/>
            <a:ext cx="4782312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288036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3654"/>
                </a:solidFill>
                <a:latin typeface="Calibri"/>
                <a:ea typeface="Calibri"/>
                <a:cs typeface="Calibri"/>
              </a:rPr>
              <a:t>ТЕКСТ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315468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Manrope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749039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Четыре начертания: 400 / 500 / 600 / 700 —
от описания до акцента в интерфейсе.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800600"/>
            <a:ext cx="10545775" cy="18288"/>
          </a:xfrm>
          <a:prstGeom prst="rect">
            <a:avLst/>
          </a:prstGeom>
          <a:solidFill>
            <a:srgbClr val="E6DC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983480"/>
            <a:ext cx="246499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03654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376672"/>
            <a:ext cx="246499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файлов woff2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16553" y="4983480"/>
            <a:ext cx="246499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03654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6553" y="5376672"/>
            <a:ext cx="246499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подмножества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0147" y="4983480"/>
            <a:ext cx="246499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03654"/>
                </a:solidFill>
                <a:latin typeface="Calibri"/>
                <a:ea typeface="Calibri"/>
                <a:cs typeface="Calibri"/>
              </a:rPr>
              <a:t>swap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0147" y="5376672"/>
            <a:ext cx="246499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font-display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03741" y="4983480"/>
            <a:ext cx="246499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03654"/>
                </a:solidFill>
                <a:latin typeface="Calibri"/>
                <a:ea typeface="Calibri"/>
                <a:cs typeface="Calibri"/>
              </a:rPr>
              <a:t>OFL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03741" y="5376672"/>
            <a:ext cx="246499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лицензия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80644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Подмножества: latin, latin-ext, cyrillic, cyrillic-ext. Браузер грузит только нужное.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327648"/>
            <a:ext cx="10545775" cy="18288"/>
          </a:xfrm>
          <a:prstGeom prst="rect">
            <a:avLst/>
          </a:prstGeom>
          <a:solidFill>
            <a:srgbClr val="E6DC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Дизайн-система · Сладкий мост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6446520"/>
            <a:ext cx="1307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03654"/>
                </a:solidFill>
                <a:latin typeface="Calibri"/>
                <a:ea typeface="Calibri"/>
                <a:cs typeface="Calibri"/>
              </a:rPr>
              <a:t>СЕТКА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32688"/>
            <a:ext cx="10424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Контейнер 1160, шаг 16, девять брейкпоинтов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395728"/>
            <a:ext cx="10545775" cy="18288"/>
          </a:xfrm>
          <a:prstGeom prst="rect">
            <a:avLst/>
          </a:prstGeom>
          <a:solidFill>
            <a:srgbClr val="E6DC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697480"/>
            <a:ext cx="10545775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194560" y="3017520"/>
            <a:ext cx="2103120" cy="640080"/>
          </a:xfrm>
          <a:prstGeom prst="roundRect">
            <a:avLst/>
          </a:prstGeom>
          <a:solidFill>
            <a:srgbClr val="FDE6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80560" y="3017520"/>
            <a:ext cx="2103120" cy="640080"/>
          </a:xfrm>
          <a:prstGeom prst="roundRect">
            <a:avLst/>
          </a:prstGeom>
          <a:solidFill>
            <a:srgbClr val="FDE6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766560" y="3017520"/>
            <a:ext cx="2103120" cy="640080"/>
          </a:xfrm>
          <a:prstGeom prst="roundRect">
            <a:avLst/>
          </a:prstGeom>
          <a:solidFill>
            <a:srgbClr val="FDE6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052560" y="3017520"/>
            <a:ext cx="2103120" cy="640080"/>
          </a:xfrm>
          <a:prstGeom prst="roundRect">
            <a:avLst/>
          </a:prstGeom>
          <a:solidFill>
            <a:srgbClr val="FDE6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79" y="3291840"/>
            <a:ext cx="182880" cy="91440"/>
          </a:xfrm>
          <a:prstGeom prst="rect">
            <a:avLst/>
          </a:prstGeom>
          <a:solidFill>
            <a:srgbClr val="C036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79" y="3291840"/>
            <a:ext cx="182880" cy="91440"/>
          </a:xfrm>
          <a:prstGeom prst="rect">
            <a:avLst/>
          </a:prstGeom>
          <a:solidFill>
            <a:srgbClr val="C036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869680" y="3291840"/>
            <a:ext cx="182880" cy="91440"/>
          </a:xfrm>
          <a:prstGeom prst="rect">
            <a:avLst/>
          </a:prstGeom>
          <a:solidFill>
            <a:srgbClr val="C036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01752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1160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3649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px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840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контейнер · четыре колонки · зазор 16 px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6634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3654"/>
                </a:solidFill>
                <a:latin typeface="Calibri"/>
                <a:ea typeface="Calibri"/>
                <a:cs typeface="Calibri"/>
              </a:rPr>
              <a:t>1100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46634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3 → 2 колонки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01091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3654"/>
                </a:solidFill>
                <a:latin typeface="Calibri"/>
                <a:ea typeface="Calibri"/>
                <a:cs typeface="Calibri"/>
              </a:rPr>
              <a:t>1099 / 1024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501091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перестройка сеток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358383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3654"/>
                </a:solidFill>
                <a:latin typeface="Calibri"/>
                <a:ea typeface="Calibri"/>
                <a:cs typeface="Calibri"/>
              </a:rPr>
              <a:t>900 / 768 / 699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5358383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сжатие панелей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705855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3654"/>
                </a:solidFill>
                <a:latin typeface="Calibri"/>
                <a:ea typeface="Calibri"/>
                <a:cs typeface="Calibri"/>
              </a:rPr>
              <a:t>640 / 560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5705855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одна колонка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78240" y="4663440"/>
            <a:ext cx="2587752" cy="1298448"/>
          </a:xfrm>
          <a:prstGeom prst="roundRect">
            <a:avLst/>
          </a:prstGeom>
          <a:solidFill>
            <a:srgbClr val="0F51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06840" y="48463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CCBEA"/>
                </a:solidFill>
                <a:latin typeface="Calibri"/>
                <a:ea typeface="Calibri"/>
                <a:cs typeface="Calibri"/>
              </a:rPr>
              <a:t>УВАЖЕНИЕ 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5138928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DCEBF2"/>
                </a:solidFill>
                <a:latin typeface="Calibri"/>
                <a:ea typeface="Calibri"/>
                <a:cs typeface="Calibri"/>
              </a:rPr>
              <a:t>prefers-reduced-motion:
анимации гасятся до 0.01 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6327648"/>
            <a:ext cx="10545775" cy="18288"/>
          </a:xfrm>
          <a:prstGeom prst="rect">
            <a:avLst/>
          </a:prstGeom>
          <a:solidFill>
            <a:srgbClr val="E6DC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Дизайн-система · Сладкий мост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6446520"/>
            <a:ext cx="1307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03654"/>
                </a:solidFill>
                <a:latin typeface="Calibri"/>
                <a:ea typeface="Calibri"/>
                <a:cs typeface="Calibri"/>
              </a:rPr>
              <a:t>ФОРМА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32688"/>
            <a:ext cx="10424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Три радиуса и три тени — вся глубина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395728"/>
            <a:ext cx="10545775" cy="18288"/>
          </a:xfrm>
          <a:prstGeom prst="rect">
            <a:avLst/>
          </a:prstGeom>
          <a:solidFill>
            <a:srgbClr val="E6DC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8529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Карточка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6382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3654"/>
                </a:solidFill>
                <a:latin typeface="Calibri"/>
                <a:ea typeface="Calibri"/>
                <a:cs typeface="Calibri"/>
              </a:rPr>
              <a:t>22 px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2743200"/>
            <a:ext cx="3840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CC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3095244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образец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92608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волны, товары, сводка админки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2219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Поле ввода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330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3654"/>
                </a:solidFill>
                <a:latin typeface="Calibri"/>
                <a:ea typeface="Calibri"/>
                <a:cs typeface="Calibri"/>
              </a:rPr>
              <a:t>13 px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08960" y="3712464"/>
            <a:ext cx="3840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CC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0" y="391363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образец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3895344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формы входа, оформления, поиска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79145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Чип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1023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3654"/>
                </a:solidFill>
                <a:latin typeface="Calibri"/>
                <a:ea typeface="Calibri"/>
                <a:cs typeface="Calibri"/>
              </a:rPr>
              <a:t>999 px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08960" y="4681728"/>
            <a:ext cx="192024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CC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08960" y="4745736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образец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4864608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регион, категория, статус товара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5650992"/>
            <a:ext cx="10545775" cy="18288"/>
          </a:xfrm>
          <a:prstGeom prst="rect">
            <a:avLst/>
          </a:prstGeom>
          <a:solidFill>
            <a:srgbClr val="E6DC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960" y="5760720"/>
            <a:ext cx="3362858" cy="4754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5815584"/>
            <a:ext cx="299709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03654"/>
                </a:solidFill>
                <a:latin typeface="Calibri"/>
                <a:ea typeface="Calibri"/>
                <a:cs typeface="Calibri"/>
              </a:rPr>
              <a:t>soft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5833872"/>
            <a:ext cx="235701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карточки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14418" y="5760720"/>
            <a:ext cx="3362858" cy="4754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5586" y="5815584"/>
            <a:ext cx="299709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03654"/>
                </a:solidFill>
                <a:latin typeface="Calibri"/>
                <a:ea typeface="Calibri"/>
                <a:cs typeface="Calibri"/>
              </a:rPr>
              <a:t>lift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83098" y="5833872"/>
            <a:ext cx="235701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наведение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5876" y="5760720"/>
            <a:ext cx="3362858" cy="4754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7044" y="5815584"/>
            <a:ext cx="299709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03654"/>
                </a:solidFill>
                <a:latin typeface="Calibri"/>
                <a:ea typeface="Calibri"/>
                <a:cs typeface="Calibri"/>
              </a:rPr>
              <a:t>btn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74556" y="5833872"/>
            <a:ext cx="235701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кнопки акцента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6327648"/>
            <a:ext cx="10545775" cy="18288"/>
          </a:xfrm>
          <a:prstGeom prst="rect">
            <a:avLst/>
          </a:prstGeom>
          <a:solidFill>
            <a:srgbClr val="E6DC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Дизайн-система · Сладкий мост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446520"/>
            <a:ext cx="1307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03654"/>
                </a:solidFill>
                <a:latin typeface="Calibri"/>
                <a:ea typeface="Calibri"/>
                <a:cs typeface="Calibri"/>
              </a:rPr>
              <a:t>КОМПОНЕНТЫ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32688"/>
            <a:ext cx="10424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Кнопки, чипы и поля — с состояниями, а не только видом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578608"/>
            <a:ext cx="10545775" cy="18288"/>
          </a:xfrm>
          <a:prstGeom prst="rect">
            <a:avLst/>
          </a:prstGeom>
          <a:solidFill>
            <a:srgbClr val="E6DC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7614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3654"/>
                </a:solidFill>
                <a:latin typeface="Calibri"/>
                <a:ea typeface="Calibri"/>
                <a:cs typeface="Calibri"/>
              </a:rPr>
              <a:t>КНОПКИ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108960"/>
            <a:ext cx="1691640" cy="548640"/>
          </a:xfrm>
          <a:prstGeom prst="roundRect">
            <a:avLst/>
          </a:prstGeom>
          <a:solidFill>
            <a:srgbClr val="C036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24612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primary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1760" y="3108960"/>
            <a:ext cx="1691640" cy="548640"/>
          </a:xfrm>
          <a:prstGeom prst="roundRect">
            <a:avLst/>
          </a:prstGeom>
          <a:solidFill>
            <a:srgbClr val="FDE6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1760" y="324612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03654"/>
                </a:solidFill>
                <a:latin typeface="Calibri"/>
                <a:ea typeface="Calibri"/>
                <a:cs typeface="Calibri"/>
              </a:rPr>
              <a:t>secondary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3108960"/>
            <a:ext cx="16916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0365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324612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03654"/>
                </a:solidFill>
                <a:latin typeface="Calibri"/>
                <a:ea typeface="Calibri"/>
                <a:cs typeface="Calibri"/>
              </a:rPr>
              <a:t>outline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3108960"/>
            <a:ext cx="1691640" cy="548640"/>
          </a:xfrm>
          <a:prstGeom prst="roundRect">
            <a:avLst/>
          </a:prstGeom>
          <a:solidFill>
            <a:srgbClr val="FFF7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324612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ghost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79476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Размеры sm / block · фокус-кольцо --ring: 0 0 0 3px rgba(192,54,84,.22)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297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3654"/>
                </a:solidFill>
                <a:latin typeface="Calibri"/>
                <a:ea typeface="Calibri"/>
                <a:cs typeface="Calibri"/>
              </a:rPr>
              <a:t>ЧИПЫ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645152"/>
            <a:ext cx="1106424" cy="438912"/>
          </a:xfrm>
          <a:prstGeom prst="roundRect">
            <a:avLst/>
          </a:prstGeom>
          <a:solidFill>
            <a:srgbClr val="D8EE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754880"/>
            <a:ext cx="11064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Якутия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12264" y="4645152"/>
            <a:ext cx="804672" cy="438912"/>
          </a:xfrm>
          <a:prstGeom prst="roundRect">
            <a:avLst/>
          </a:prstGeom>
          <a:solidFill>
            <a:srgbClr val="FBE6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12264" y="4754880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ДНР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99816" y="4645152"/>
            <a:ext cx="1106424" cy="438912"/>
          </a:xfrm>
          <a:prstGeom prst="roundRect">
            <a:avLst/>
          </a:prstGeom>
          <a:solidFill>
            <a:srgbClr val="FDE6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99816" y="4754880"/>
            <a:ext cx="11064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акцент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4645152"/>
            <a:ext cx="1005840" cy="438912"/>
          </a:xfrm>
          <a:prstGeom prst="roundRect">
            <a:avLst/>
          </a:prstGeom>
          <a:solidFill>
            <a:srgbClr val="E4F0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47548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успех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77840" y="4645152"/>
            <a:ext cx="1005840" cy="438912"/>
          </a:xfrm>
          <a:prstGeom prst="roundRect">
            <a:avLst/>
          </a:prstGeom>
          <a:solidFill>
            <a:srgbClr val="EFE7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77840" y="47548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тихий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3218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3654"/>
                </a:solidFill>
                <a:latin typeface="Calibri"/>
                <a:ea typeface="Calibri"/>
                <a:cs typeface="Calibri"/>
              </a:rPr>
              <a:t>ПОЛЯ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5577840"/>
            <a:ext cx="32918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CC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568756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Обычное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97680" y="5577840"/>
            <a:ext cx="32918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0365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26280" y="568756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С ошибкой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568756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03654"/>
                </a:solidFill>
                <a:latin typeface="Calibri"/>
                <a:ea typeface="Calibri"/>
                <a:cs typeface="Calibri"/>
              </a:rPr>
              <a:t>проверка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0" y="5577840"/>
            <a:ext cx="32918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CC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01000" y="568756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Пароль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" y="6327648"/>
            <a:ext cx="10545775" cy="18288"/>
          </a:xfrm>
          <a:prstGeom prst="rect">
            <a:avLst/>
          </a:prstGeom>
          <a:solidFill>
            <a:srgbClr val="E6DC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Дизайн-система · Сладкий мост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6446520"/>
            <a:ext cx="1307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03654"/>
                </a:solidFill>
                <a:latin typeface="Calibri"/>
                <a:ea typeface="Calibri"/>
                <a:cs typeface="Calibri"/>
              </a:rPr>
              <a:t>ДОСТУПНОСТЬ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32688"/>
            <a:ext cx="10424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Контраст доведён до WCAG AA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395728"/>
            <a:ext cx="10545775" cy="18288"/>
          </a:xfrm>
          <a:prstGeom prst="rect">
            <a:avLst/>
          </a:prstGeom>
          <a:solidFill>
            <a:srgbClr val="E6DC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ЭЛЕМЕНТ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26974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БЫЛО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6974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СТАЛО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26974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ПОРОГ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971800"/>
            <a:ext cx="10545775" cy="18288"/>
          </a:xfrm>
          <a:prstGeom prst="rect">
            <a:avLst/>
          </a:prstGeom>
          <a:solidFill>
            <a:srgbClr val="E6DC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3127248"/>
            <a:ext cx="10545775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37413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Акцент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3291840"/>
            <a:ext cx="420624" cy="420624"/>
          </a:xfrm>
          <a:prstGeom prst="roundRect">
            <a:avLst/>
          </a:prstGeom>
          <a:solidFill>
            <a:srgbClr val="E9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60" y="337413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#E95D79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337413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03654"/>
                </a:solidFill>
                <a:latin typeface="Calibri"/>
                <a:ea typeface="Calibri"/>
                <a:cs typeface="Calibri"/>
              </a:rPr>
              <a:t>3.3:1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3291840"/>
            <a:ext cx="420624" cy="420624"/>
          </a:xfrm>
          <a:prstGeom prst="roundRect">
            <a:avLst/>
          </a:prstGeom>
          <a:solidFill>
            <a:srgbClr val="C036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337413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#C03654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37413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77A50"/>
                </a:solidFill>
                <a:latin typeface="Calibri"/>
                <a:ea typeface="Calibri"/>
                <a:cs typeface="Calibri"/>
              </a:rPr>
              <a:t>5.39:1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337413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AA — пройдено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986783"/>
            <a:ext cx="10545775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233671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Приглушённый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74720" y="4151375"/>
            <a:ext cx="420624" cy="420624"/>
          </a:xfrm>
          <a:prstGeom prst="roundRect">
            <a:avLst/>
          </a:prstGeom>
          <a:solidFill>
            <a:srgbClr val="8A7B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60" y="4233671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#8A7B70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4233671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03654"/>
                </a:solidFill>
                <a:latin typeface="Calibri"/>
                <a:ea typeface="Calibri"/>
                <a:cs typeface="Calibri"/>
              </a:rPr>
              <a:t>4.1:1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0" y="4151375"/>
            <a:ext cx="420624" cy="420624"/>
          </a:xfrm>
          <a:prstGeom prst="roundRect">
            <a:avLst/>
          </a:prstGeom>
          <a:solidFill>
            <a:srgbClr val="70635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0" y="4233671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#706359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4233671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77A50"/>
                </a:solidFill>
                <a:latin typeface="Calibri"/>
                <a:ea typeface="Calibri"/>
                <a:cs typeface="Calibri"/>
              </a:rPr>
              <a:t>5.8:1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4233671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AA — пройдено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4846319"/>
            <a:ext cx="10545775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5093207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Ссылки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74720" y="5010911"/>
            <a:ext cx="420624" cy="420624"/>
          </a:xfrm>
          <a:prstGeom prst="roundRect">
            <a:avLst/>
          </a:prstGeom>
          <a:solidFill>
            <a:srgbClr val="3B6F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23360" y="5093207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#3B6F96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57800" y="5093207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03654"/>
                </a:solidFill>
                <a:latin typeface="Calibri"/>
                <a:ea typeface="Calibri"/>
                <a:cs typeface="Calibri"/>
              </a:rPr>
              <a:t>3.9–4.2:1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0" y="5010911"/>
            <a:ext cx="420624" cy="420624"/>
          </a:xfrm>
          <a:prstGeom prst="roundRect">
            <a:avLst/>
          </a:prstGeom>
          <a:solidFill>
            <a:srgbClr val="C3D6DF"/>
          </a:solidFill>
          <a:ln w="12700">
            <a:solidFill>
              <a:srgbClr val="E6DCC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0" y="5093207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#C3D6DF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5093207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77A50"/>
                </a:solidFill>
                <a:latin typeface="Calibri"/>
                <a:ea typeface="Calibri"/>
                <a:cs typeface="Calibri"/>
              </a:rPr>
              <a:t>≥ 4.5:1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0" y="5093207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AA — пройдено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589788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Порог для обычного текста — 4.5:1. Исходные оттенки не проходили, поэтому подняты в контрасте.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" y="6327648"/>
            <a:ext cx="10545775" cy="18288"/>
          </a:xfrm>
          <a:prstGeom prst="rect">
            <a:avLst/>
          </a:prstGeom>
          <a:solidFill>
            <a:srgbClr val="E6DC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Дизайн-система · Сладкий мост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6446520"/>
            <a:ext cx="1307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03654"/>
                </a:solidFill>
                <a:latin typeface="Calibri"/>
                <a:ea typeface="Calibri"/>
                <a:cs typeface="Calibri"/>
              </a:rPr>
              <a:t>АУДИТ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32688"/>
            <a:ext cx="10424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Lighthouse: 0.94 → 1.0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395728"/>
            <a:ext cx="10545775" cy="18288"/>
          </a:xfrm>
          <a:prstGeom prst="rect">
            <a:avLst/>
          </a:prstGeom>
          <a:solidFill>
            <a:srgbClr val="E6DC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743200"/>
            <a:ext cx="512064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9443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ДОСТУПНОСТЬ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2918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0.94–0.96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331012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6DCC3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40" y="32918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C03654"/>
                </a:solidFill>
                <a:latin typeface="Calibri"/>
                <a:ea typeface="Calibri"/>
                <a:cs typeface="Calibri"/>
              </a:rPr>
              <a:t>1.00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4023360"/>
            <a:ext cx="4480560" cy="128016"/>
          </a:xfrm>
          <a:prstGeom prst="rect">
            <a:avLst/>
          </a:prstGeom>
          <a:solidFill>
            <a:srgbClr val="E6DC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4023360"/>
            <a:ext cx="4480560" cy="128016"/>
          </a:xfrm>
          <a:prstGeom prst="rect">
            <a:avLst/>
          </a:prstGeom>
          <a:solidFill>
            <a:srgbClr val="C036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2743200"/>
            <a:ext cx="512064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9443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SEO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2918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0.80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331012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6DCC3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32918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C03654"/>
                </a:solidFill>
                <a:latin typeface="Calibri"/>
                <a:ea typeface="Calibri"/>
                <a:cs typeface="Calibri"/>
              </a:rPr>
              <a:t>1.00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37960" y="4023360"/>
            <a:ext cx="4480560" cy="128016"/>
          </a:xfrm>
          <a:prstGeom prst="rect">
            <a:avLst/>
          </a:prstGeom>
          <a:solidFill>
            <a:srgbClr val="E6DC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37960" y="4023360"/>
            <a:ext cx="4480560" cy="128016"/>
          </a:xfrm>
          <a:prstGeom prst="rect">
            <a:avLst/>
          </a:prstGeom>
          <a:solidFill>
            <a:srgbClr val="C036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4617720"/>
            <a:ext cx="10545775" cy="18288"/>
          </a:xfrm>
          <a:prstGeom prst="rect">
            <a:avLst/>
          </a:prstGeom>
          <a:solidFill>
            <a:srgbClr val="E6DC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7731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3654"/>
                </a:solidFill>
                <a:latin typeface="Calibri"/>
                <a:ea typeface="Calibri"/>
                <a:cs typeface="Calibri"/>
              </a:rPr>
              <a:t>ЧТО ИСПРАВЛЕНО</a:t>
            </a:r>
          </a:p>
        </p:txBody>
      </p:sp>
      <p:sp>
        <p:nvSpPr>
          <p:cNvPr id="21" name="Oval 20"/>
          <p:cNvSpPr/>
          <p:nvPr/>
        </p:nvSpPr>
        <p:spPr>
          <a:xfrm>
            <a:off x="822960" y="5175504"/>
            <a:ext cx="82296" cy="82296"/>
          </a:xfrm>
          <a:prstGeom prst="ellipse">
            <a:avLst/>
          </a:prstGeom>
          <a:solidFill>
            <a:srgbClr val="C036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51023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порядок заголовков h3 → h2 на страницах каталога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5486400"/>
            <a:ext cx="82296" cy="82296"/>
          </a:xfrm>
          <a:prstGeom prst="ellipse">
            <a:avLst/>
          </a:prstGeom>
          <a:solidFill>
            <a:srgbClr val="C036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54132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label-content-name-mismatch и aria-label на ссылках-иконках</a:t>
            </a:r>
          </a:p>
        </p:txBody>
      </p:sp>
      <p:sp>
        <p:nvSpPr>
          <p:cNvPr id="25" name="Oval 24"/>
          <p:cNvSpPr/>
          <p:nvPr/>
        </p:nvSpPr>
        <p:spPr>
          <a:xfrm>
            <a:off x="822960" y="5797296"/>
            <a:ext cx="82296" cy="82296"/>
          </a:xfrm>
          <a:prstGeom prst="ellipse">
            <a:avLst/>
          </a:prstGeom>
          <a:solidFill>
            <a:srgbClr val="C036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128" y="572414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добавлен meta-description в _Layout</a:t>
            </a:r>
          </a:p>
        </p:txBody>
      </p:sp>
      <p:sp>
        <p:nvSpPr>
          <p:cNvPr id="27" name="Oval 26"/>
          <p:cNvSpPr/>
          <p:nvPr/>
        </p:nvSpPr>
        <p:spPr>
          <a:xfrm>
            <a:off x="822960" y="6108192"/>
            <a:ext cx="82296" cy="82296"/>
          </a:xfrm>
          <a:prstGeom prst="ellipse">
            <a:avLst/>
          </a:prstGeom>
          <a:solidFill>
            <a:srgbClr val="C036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4128" y="6035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контраст переопределён в :root, не точечными правками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6327648"/>
            <a:ext cx="10545775" cy="18288"/>
          </a:xfrm>
          <a:prstGeom prst="rect">
            <a:avLst/>
          </a:prstGeom>
          <a:solidFill>
            <a:srgbClr val="E6DC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Дизайн-система · Сладкий мост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6446520"/>
            <a:ext cx="1307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03654"/>
                </a:solidFill>
                <a:latin typeface="Calibri"/>
                <a:ea typeface="Calibri"/>
                <a:cs typeface="Calibri"/>
              </a:rPr>
              <a:t>ИКОНКИ И CSP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32688"/>
            <a:ext cx="10424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Почему спрайт переехал в разметку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578608"/>
            <a:ext cx="10545775" cy="18288"/>
          </a:xfrm>
          <a:prstGeom prst="rect">
            <a:avLst/>
          </a:prstGeom>
          <a:solidFill>
            <a:srgbClr val="E6DC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834640"/>
            <a:ext cx="512064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834640"/>
            <a:ext cx="64008" cy="1371600"/>
          </a:xfrm>
          <a:prstGeom prst="roundRect">
            <a:avLst/>
          </a:prstGeom>
          <a:solidFill>
            <a:srgbClr val="C036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01752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3654"/>
                </a:solidFill>
                <a:latin typeface="Calibri"/>
                <a:ea typeface="Calibri"/>
                <a:cs typeface="Calibri"/>
              </a:rPr>
              <a:t>ЧТО БЫЛО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46704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Внешний файл /icons/sprite.svg и &lt;use href="/icons/sprite.svg#icon-x"&gt;.
Иконки рендерились пустыми.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343400"/>
            <a:ext cx="512064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4343400"/>
            <a:ext cx="64008" cy="1371600"/>
          </a:xfrm>
          <a:prstGeom prst="roundRect">
            <a:avLst/>
          </a:prstGeom>
          <a:solidFill>
            <a:srgbClr val="0F51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52628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5173"/>
                </a:solidFill>
                <a:latin typeface="Calibri"/>
                <a:ea typeface="Calibri"/>
                <a:cs typeface="Calibri"/>
              </a:rPr>
              <a:t>ПРИЧИНА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855464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Браузер не отдаёт содержимое внешнего спрайта
для &lt;use&gt; из-за политики CORS.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2834640"/>
            <a:ext cx="4782312" cy="1371600"/>
          </a:xfrm>
          <a:prstGeom prst="roundRect">
            <a:avLst/>
          </a:prstGeom>
          <a:solidFill>
            <a:srgbClr val="0F51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3035808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CBEA"/>
                </a:solidFill>
                <a:latin typeface="Calibri"/>
                <a:ea typeface="Calibri"/>
                <a:cs typeface="Calibri"/>
              </a:rPr>
              <a:t>РЕШЕНИЕ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3364992"/>
            <a:ext cx="4206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CEBF2"/>
                </a:solidFill>
                <a:latin typeface="Calibri"/>
                <a:ea typeface="Calibri"/>
                <a:cs typeface="Calibri"/>
              </a:rPr>
              <a:t>Символы вынесены в _Layout как
&lt;symbol id="icon-*"&gt;, ссылки — &lt;use href="#icon-*"&gt;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4343400"/>
            <a:ext cx="4782312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03720" y="4526280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3654"/>
                </a:solidFill>
                <a:latin typeface="Calibri"/>
                <a:ea typeface="Calibri"/>
                <a:cs typeface="Calibri"/>
              </a:rPr>
              <a:t>ПОЧЕМУ ЭТО ЧИСТО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4855464"/>
            <a:ext cx="4206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Ссылки внутри документа — не скрипты и не стили,
поэтому строгая CSP не нарушается.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89788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Один запрет диктовал решение: инлайн разрешён только там, где это не скрипт.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6327648"/>
            <a:ext cx="10545775" cy="18288"/>
          </a:xfrm>
          <a:prstGeom prst="rect">
            <a:avLst/>
          </a:prstGeom>
          <a:solidFill>
            <a:srgbClr val="E6DC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Дизайн-система · Сладкий мост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6446520"/>
            <a:ext cx="1307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03654"/>
                </a:solidFill>
                <a:latin typeface="Calibri"/>
                <a:ea typeface="Calibri"/>
                <a:cs typeface="Calibri"/>
              </a:rPr>
              <a:t>ИТОГ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32688"/>
            <a:ext cx="10424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Система, а не набор стилей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48840"/>
            <a:ext cx="7680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148840"/>
            <a:ext cx="64008" cy="914400"/>
          </a:xfrm>
          <a:prstGeom prst="roundRect">
            <a:avLst/>
          </a:prstGeom>
          <a:solidFill>
            <a:srgbClr val="C036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28600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Один язык вместо догадок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27 CSS-переменных покрывают весь интерфейс: правка токена меняет продукт целиком.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191256"/>
            <a:ext cx="7680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3191256"/>
            <a:ext cx="64008" cy="914400"/>
          </a:xfrm>
          <a:prstGeom prst="roundRect">
            <a:avLst/>
          </a:prstGeom>
          <a:solidFill>
            <a:srgbClr val="C036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328416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Правила, а не исключения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648456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Контраст, порядок заголовков и доступность закрыты в токенах и общих компонентах.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233672"/>
            <a:ext cx="7680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4233672"/>
            <a:ext cx="64008" cy="914400"/>
          </a:xfrm>
          <a:prstGeom prst="roundRect">
            <a:avLst/>
          </a:prstGeom>
          <a:solidFill>
            <a:srgbClr val="C036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370832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A1710"/>
                </a:solidFill>
                <a:latin typeface="Calibri"/>
                <a:ea typeface="Calibri"/>
                <a:cs typeface="Calibri"/>
              </a:rPr>
              <a:t>Проверено инструментом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690872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Lighthouse 1.0 по доступности и SEO, 52 страницы без inline-стилей и скриптов.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2148840"/>
            <a:ext cx="2496312" cy="2999232"/>
          </a:xfrm>
          <a:prstGeom prst="roundRect">
            <a:avLst/>
          </a:prstGeom>
          <a:solidFill>
            <a:srgbClr val="0F51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25712" y="23957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CCBEA"/>
                </a:solidFill>
                <a:latin typeface="Calibri"/>
                <a:ea typeface="Calibri"/>
                <a:cs typeface="Calibri"/>
              </a:rPr>
              <a:t>ДИЗАЙН-ТОКЕНЫ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25712" y="27889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21240" y="2880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CD6E4"/>
                </a:solidFill>
                <a:latin typeface="Calibri"/>
                <a:ea typeface="Calibri"/>
                <a:cs typeface="Calibri"/>
              </a:rPr>
              <a:t>цветов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25712" y="335584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21240" y="34472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CD6E4"/>
                </a:solidFill>
                <a:latin typeface="Calibri"/>
                <a:ea typeface="Calibri"/>
                <a:cs typeface="Calibri"/>
              </a:rPr>
              <a:t>шрифта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25712" y="3922776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40" y="4014215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CD6E4"/>
                </a:solidFill>
                <a:latin typeface="Calibri"/>
                <a:ea typeface="Calibri"/>
                <a:cs typeface="Calibri"/>
              </a:rPr>
              <a:t>радиуса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25712" y="448970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21240" y="458114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CD6E4"/>
                </a:solidFill>
                <a:latin typeface="Calibri"/>
                <a:ea typeface="Calibri"/>
                <a:cs typeface="Calibri"/>
              </a:rPr>
              <a:t>брейкпоинтов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5715000"/>
            <a:ext cx="10545775" cy="18288"/>
          </a:xfrm>
          <a:prstGeom prst="rect">
            <a:avLst/>
          </a:prstGeom>
          <a:solidFill>
            <a:srgbClr val="E6DC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8978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Сладкий мост · дизайн-система на CSS-переменных · без Bootstrap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6327648"/>
            <a:ext cx="10545775" cy="18288"/>
          </a:xfrm>
          <a:prstGeom prst="rect">
            <a:avLst/>
          </a:prstGeom>
          <a:solidFill>
            <a:srgbClr val="E6DC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Дизайн-система · Сладкий мост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6446520"/>
            <a:ext cx="1307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06359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